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7"/>
  </p:sldMasterIdLst>
  <p:notesMasterIdLst>
    <p:notesMasterId r:id="rId24"/>
  </p:notesMasterIdLst>
  <p:handoutMasterIdLst>
    <p:handoutMasterId r:id="rId25"/>
  </p:handoutMasterIdLst>
  <p:sldIdLst>
    <p:sldId id="256" r:id="rId8"/>
    <p:sldId id="260" r:id="rId9"/>
    <p:sldId id="270" r:id="rId10"/>
    <p:sldId id="271" r:id="rId11"/>
    <p:sldId id="261" r:id="rId12"/>
    <p:sldId id="266" r:id="rId13"/>
    <p:sldId id="272" r:id="rId14"/>
    <p:sldId id="263" r:id="rId15"/>
    <p:sldId id="262" r:id="rId16"/>
    <p:sldId id="267" r:id="rId17"/>
    <p:sldId id="264" r:id="rId18"/>
    <p:sldId id="268" r:id="rId19"/>
    <p:sldId id="265" r:id="rId20"/>
    <p:sldId id="273" r:id="rId21"/>
    <p:sldId id="274" r:id="rId22"/>
    <p:sldId id="275" r:id="rId23"/>
  </p:sldIdLst>
  <p:sldSz cx="12190413" cy="6858000"/>
  <p:notesSz cx="6858000" cy="9144000"/>
  <p:custDataLst>
    <p:tags r:id="rId26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1" autoAdjust="0"/>
    <p:restoredTop sz="95392" autoAdjust="0"/>
  </p:normalViewPr>
  <p:slideViewPr>
    <p:cSldViewPr showGuides="1">
      <p:cViewPr varScale="1">
        <p:scale>
          <a:sx n="79" d="100"/>
          <a:sy n="79" d="100"/>
        </p:scale>
        <p:origin x="605" y="48"/>
      </p:cViewPr>
      <p:guideLst/>
    </p:cSldViewPr>
  </p:slideViewPr>
  <p:outlineViewPr>
    <p:cViewPr>
      <p:scale>
        <a:sx n="33" d="100"/>
        <a:sy n="33" d="100"/>
      </p:scale>
      <p:origin x="0" y="-308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4821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customXml" Target="../customXml/item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052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121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2fce62a0-f28a-44e1-a519-0cbe37b25f7a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</a:t>
            </a:r>
          </a:p>
        </p:txBody>
      </p:sp>
      <p:sp>
        <p:nvSpPr>
          <p:cNvPr id="5" name="date" descr="{&quot;templafy&quot;:{&quot;id&quot;:&quot;58465eeb-cfe0-4970-97ec-88179dc0a9c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Date</a:t>
            </a:r>
          </a:p>
        </p:txBody>
      </p:sp>
      <p:sp>
        <p:nvSpPr>
          <p:cNvPr id="7" name="text" descr="{&quot;templafy&quot;:{&quot;id&quot;:&quot;5020bdfb-1912-4d6d-a5c3-71b7da283692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 dirty="0">
                <a:solidFill>
                  <a:schemeClr val="bg1"/>
                </a:solidFill>
                <a:latin typeface="+mn-lt"/>
              </a:rPr>
              <a:t>Title</a:t>
            </a: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6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550" y="1412776"/>
            <a:ext cx="10840028" cy="643905"/>
          </a:xfrm>
        </p:spPr>
        <p:txBody>
          <a:bodyPr/>
          <a:lstStyle/>
          <a:p>
            <a:r>
              <a:rPr lang="en-GB" dirty="0"/>
              <a:t>Otto Anker Nielsen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2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B24D31-83F0-183C-5DE4-48D4ABD29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038" y="1052735"/>
            <a:ext cx="7356012" cy="4908863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48BA4-02AC-B20F-AD0D-D83546CF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AI Matters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2F503-5689-948F-BA21-D7779DBEE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/>
              <a:t>Increasing pressure on publication and funding</a:t>
            </a:r>
          </a:p>
          <a:p>
            <a:pPr lvl="1"/>
            <a:r>
              <a:rPr lang="en-US" sz="2000" noProof="0" dirty="0"/>
              <a:t>“Competitors” use AI big-time</a:t>
            </a:r>
          </a:p>
          <a:p>
            <a:pPr lvl="1"/>
            <a:r>
              <a:rPr lang="en-US" sz="2000" dirty="0"/>
              <a:t>Will lead to better written, more compliant competitive applications</a:t>
            </a:r>
            <a:endParaRPr lang="en-US" sz="2000" noProof="0" dirty="0"/>
          </a:p>
          <a:p>
            <a:r>
              <a:rPr lang="en-US" sz="2000" noProof="0" dirty="0"/>
              <a:t>Rapid growth in data and complexity</a:t>
            </a:r>
          </a:p>
          <a:p>
            <a:r>
              <a:rPr lang="en-US" sz="2000" noProof="0" dirty="0"/>
              <a:t>Administrative workload and requirements are increasing</a:t>
            </a:r>
          </a:p>
          <a:p>
            <a:r>
              <a:rPr lang="en-US" sz="2000" noProof="0" dirty="0"/>
              <a:t>AI offers productivity, insight, and scalability</a:t>
            </a:r>
          </a:p>
          <a:p>
            <a:endParaRPr lang="en-US" sz="2000" noProof="0" dirty="0"/>
          </a:p>
          <a:p>
            <a:pPr marL="0" indent="0">
              <a:buNone/>
            </a:pPr>
            <a:r>
              <a:rPr lang="en-US" sz="2000" noProof="0" dirty="0"/>
              <a:t>👉 Key question: How can researchers effectively use AI without compromising quality?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DA073-714B-A4DE-A071-6667DA778B8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72180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40184-C97A-A53A-25CF-F660BB07F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Where AI may help Most?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87364-44C1-419A-A968-AA17DE222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/>
              <a:t>Writing &amp; publishing</a:t>
            </a:r>
          </a:p>
          <a:p>
            <a:r>
              <a:rPr lang="en-US" sz="2000" noProof="0" dirty="0"/>
              <a:t>Mathematical modelling &amp; data analysis</a:t>
            </a:r>
          </a:p>
          <a:p>
            <a:r>
              <a:rPr lang="en-US" sz="2000" noProof="0" dirty="0"/>
              <a:t>Administrative and project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671DD-E3C7-6DB0-2F51-12EFFA541E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US" noProof="0" smtClean="0"/>
              <a:pPr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9623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758F-2DC8-8AC5-3529-04239F8F0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AI for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DC5A6-34AC-2738-A38E-6441674E8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/>
              <a:t>Language control</a:t>
            </a:r>
            <a:r>
              <a:rPr lang="en-US" sz="2000" dirty="0"/>
              <a:t> and</a:t>
            </a:r>
            <a:r>
              <a:rPr lang="en-US" sz="2000" noProof="0" dirty="0"/>
              <a:t> proof reading</a:t>
            </a:r>
          </a:p>
          <a:p>
            <a:r>
              <a:rPr lang="en-US" sz="2000" noProof="0" dirty="0"/>
              <a:t>Editing documents, e.g. propose how to reduce length of documents, avoiding repetitions</a:t>
            </a:r>
          </a:p>
          <a:p>
            <a:pPr lvl="1"/>
            <a:r>
              <a:rPr lang="en-US" sz="2000" noProof="0" dirty="0"/>
              <a:t>Improving clarity and conciseness</a:t>
            </a:r>
          </a:p>
          <a:p>
            <a:pPr lvl="1"/>
            <a:r>
              <a:rPr lang="en-US" sz="2000" noProof="0" dirty="0"/>
              <a:t>Explaining complex theories in simpler terms</a:t>
            </a:r>
          </a:p>
          <a:p>
            <a:r>
              <a:rPr lang="en-US" sz="2000" noProof="0" dirty="0"/>
              <a:t>Writing abstracts, summaries, review sections</a:t>
            </a:r>
          </a:p>
          <a:p>
            <a:r>
              <a:rPr lang="en-US" sz="2000" noProof="0" dirty="0"/>
              <a:t>Checking and suggesting references</a:t>
            </a:r>
          </a:p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A772E7-4F64-6A62-7C46-93858215F14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769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A5C6-3E43-6873-98BD-44F730CF8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4A42E-8AC8-975B-622E-186D1457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AI for 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42DB6-0E1B-0C2E-0099-E8901C028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/>
              <a:t>Literature mapping: Summarizing large volumes of papers and identifies gaps</a:t>
            </a:r>
          </a:p>
          <a:p>
            <a:r>
              <a:rPr lang="en-US" sz="2000" noProof="0" dirty="0"/>
              <a:t>Connecting ideas across fields (e.g., transport + behavioral science)</a:t>
            </a:r>
          </a:p>
          <a:p>
            <a:r>
              <a:rPr lang="en-US" sz="2000" noProof="0" dirty="0"/>
              <a:t>Cluster literature into themes or categories and structuring review sections</a:t>
            </a:r>
          </a:p>
          <a:p>
            <a:r>
              <a:rPr lang="en-US" sz="2000" noProof="0" dirty="0"/>
              <a:t>Identifying contradictions or research gaps</a:t>
            </a:r>
          </a:p>
          <a:p>
            <a:endParaRPr lang="en-US" sz="2000" dirty="0"/>
          </a:p>
          <a:p>
            <a:r>
              <a:rPr lang="en-US" sz="2000" dirty="0"/>
              <a:t>BUT be aware of possible</a:t>
            </a:r>
          </a:p>
          <a:p>
            <a:pPr lvl="1"/>
            <a:r>
              <a:rPr lang="en-US" sz="2000" noProof="0" dirty="0"/>
              <a:t>Hallucinated or incorrect references, wrong interpretation of reviews</a:t>
            </a:r>
          </a:p>
          <a:p>
            <a:pPr lvl="1"/>
            <a:r>
              <a:rPr lang="en-US" sz="2000" noProof="0" dirty="0"/>
              <a:t>Lack of scientific rigor</a:t>
            </a:r>
          </a:p>
          <a:p>
            <a:endParaRPr lang="en-US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357D0-23C2-B757-0A0D-81C663774B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496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38E7C-36B2-40DD-04DC-3F4628A1A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AAEAE-4BD0-9E38-771C-F46E05E45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AI in the publication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6A4B6-4F1A-D59B-3BDC-212B42D54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/>
              <a:t>Identifying relevant journals based on abstract or paper </a:t>
            </a:r>
            <a:r>
              <a:rPr lang="en-US" sz="2000" noProof="0" dirty="0" err="1"/>
              <a:t>draf</a:t>
            </a:r>
            <a:r>
              <a:rPr lang="en-US" sz="2000" dirty="0"/>
              <a:t>t, and possible recommending rescoping paper</a:t>
            </a:r>
          </a:p>
          <a:p>
            <a:pPr lvl="1"/>
            <a:r>
              <a:rPr lang="en-US" sz="2000" dirty="0"/>
              <a:t>Note best to used downloaded trained LLM not to reveal the content of the paper</a:t>
            </a:r>
            <a:endParaRPr lang="en-US" sz="2000" noProof="0" dirty="0"/>
          </a:p>
          <a:p>
            <a:r>
              <a:rPr lang="en-US" sz="2000" dirty="0"/>
              <a:t>Creating submission packages</a:t>
            </a:r>
          </a:p>
          <a:p>
            <a:pPr lvl="1"/>
            <a:r>
              <a:rPr lang="en-US" sz="2000" dirty="0"/>
              <a:t>Letter to the editor</a:t>
            </a:r>
          </a:p>
          <a:p>
            <a:pPr lvl="1"/>
            <a:r>
              <a:rPr lang="en-US" sz="2000" dirty="0"/>
              <a:t>Formatting to specific journal format and upload requirements,…</a:t>
            </a:r>
          </a:p>
          <a:p>
            <a:pPr lvl="1"/>
            <a:r>
              <a:rPr lang="en-US" sz="2000" dirty="0"/>
              <a:t>Help suggesting reviewers</a:t>
            </a:r>
          </a:p>
          <a:p>
            <a:r>
              <a:rPr lang="en-US" sz="2000" noProof="0" dirty="0"/>
              <a:t>Responses to reviews</a:t>
            </a:r>
          </a:p>
          <a:p>
            <a:pPr lvl="1"/>
            <a:r>
              <a:rPr lang="en-US" sz="2000" noProof="0" dirty="0"/>
              <a:t>Draft response letters to review </a:t>
            </a:r>
          </a:p>
          <a:p>
            <a:pPr lvl="1"/>
            <a:r>
              <a:rPr lang="en-US" sz="2000" noProof="0" dirty="0"/>
              <a:t>Strengthening arguments after feedback, and drafting responses to reviewers</a:t>
            </a:r>
          </a:p>
          <a:p>
            <a:pPr lvl="1"/>
            <a:r>
              <a:rPr lang="en-US" sz="2000" noProof="0" dirty="0"/>
              <a:t>Rewriting </a:t>
            </a:r>
            <a:r>
              <a:rPr lang="en-US" sz="2000" dirty="0"/>
              <a:t>paper </a:t>
            </a:r>
            <a:r>
              <a:rPr lang="en-US" sz="2000" noProof="0" dirty="0"/>
              <a:t>sections based on comments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F7E30-DA2D-252B-D7AD-E70FD9314D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52376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F0E2B-657E-E6A4-A191-05906C8F6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AI in peer review processes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FA2B7-8C5D-F140-6D7D-B67F432AF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/>
              <a:t>Has changed review processes for good or bad</a:t>
            </a:r>
          </a:p>
          <a:p>
            <a:pPr lvl="1"/>
            <a:r>
              <a:rPr lang="en-US" sz="2000" noProof="0" dirty="0"/>
              <a:t>Journals autogenerate proposals of reviewers who are not always relevant</a:t>
            </a:r>
          </a:p>
          <a:p>
            <a:pPr lvl="1"/>
            <a:r>
              <a:rPr lang="en-US" sz="2000" dirty="0"/>
              <a:t>R</a:t>
            </a:r>
            <a:r>
              <a:rPr lang="en-US" sz="2000" noProof="0" dirty="0" err="1"/>
              <a:t>eviewers</a:t>
            </a:r>
            <a:r>
              <a:rPr lang="en-US" sz="2000" noProof="0" dirty="0"/>
              <a:t> use AI to generate reviews (some universities have #reviews as PKIs, publishers has began counting this),…</a:t>
            </a:r>
          </a:p>
          <a:p>
            <a:pPr lvl="1"/>
            <a:r>
              <a:rPr lang="en-US" sz="2000" noProof="0" dirty="0"/>
              <a:t>Automation in low-quality journals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C2ECA-A71F-900D-3AD4-2D31499C88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6341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4049-E386-C44E-11D7-8418C791E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AI for mathematical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74112-D265-031B-31FE-0895183D7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/>
              <a:t>Symbolic Mathematics &amp; Derivations</a:t>
            </a:r>
          </a:p>
          <a:p>
            <a:pPr lvl="1"/>
            <a:r>
              <a:rPr lang="en-US" sz="2000" noProof="0" dirty="0"/>
              <a:t>Solving equations (algebraic, differential, integral)</a:t>
            </a:r>
          </a:p>
          <a:p>
            <a:pPr lvl="1"/>
            <a:r>
              <a:rPr lang="en-US" sz="2000" noProof="0" dirty="0"/>
              <a:t>Performing symbolic derivations step-by-step</a:t>
            </a:r>
          </a:p>
          <a:p>
            <a:pPr lvl="1"/>
            <a:r>
              <a:rPr lang="en-US" sz="2000" noProof="0" dirty="0"/>
              <a:t>Simplifying complex expressions</a:t>
            </a:r>
          </a:p>
          <a:p>
            <a:pPr lvl="1"/>
            <a:r>
              <a:rPr lang="en-US" sz="2000" noProof="0" dirty="0"/>
              <a:t>Helping to proof hypothesis or verifying mathematical proofs or steps</a:t>
            </a:r>
          </a:p>
          <a:p>
            <a:r>
              <a:rPr lang="en-US" sz="2000" noProof="0" dirty="0"/>
              <a:t>Numerical computations and simulations</a:t>
            </a:r>
          </a:p>
          <a:p>
            <a:r>
              <a:rPr lang="en-US" sz="2000" noProof="0" dirty="0"/>
              <a:t>Refine complex model systems</a:t>
            </a:r>
          </a:p>
          <a:p>
            <a:r>
              <a:rPr lang="en-US" sz="2000" noProof="0" dirty="0"/>
              <a:t>Pattern discovery and data-driven insights</a:t>
            </a:r>
          </a:p>
          <a:p>
            <a:r>
              <a:rPr lang="en-US" sz="2000" noProof="0" dirty="0"/>
              <a:t>Code generation</a:t>
            </a:r>
          </a:p>
          <a:p>
            <a:endParaRPr lang="en-US" sz="2000" noProof="0" dirty="0"/>
          </a:p>
          <a:p>
            <a:r>
              <a:rPr lang="en-US" sz="2000" dirty="0"/>
              <a:t>BUT be aware of possible</a:t>
            </a:r>
          </a:p>
          <a:p>
            <a:pPr lvl="1"/>
            <a:r>
              <a:rPr lang="en-US" sz="2000" noProof="0" dirty="0"/>
              <a:t>Errors in reasoning and mathematics</a:t>
            </a:r>
          </a:p>
          <a:p>
            <a:pPr lvl="1"/>
            <a:r>
              <a:rPr lang="en-US" sz="2000" noProof="0" dirty="0"/>
              <a:t>Lack of scientific rigor</a:t>
            </a:r>
          </a:p>
          <a:p>
            <a:endParaRPr lang="en-US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0E82F-F05D-FCDF-6F65-49569D665D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US" noProof="0" smtClean="0"/>
              <a:pPr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6205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3FEF-D04E-7060-C56F-6DF737687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AI for data </a:t>
            </a:r>
            <a:r>
              <a:rPr lang="da-DK" dirty="0" err="1"/>
              <a:t>analysis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B667F-EF5F-6A49-49C9-EC0B105A0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Data Interpretation &amp; Explanation</a:t>
            </a:r>
          </a:p>
          <a:p>
            <a:r>
              <a:rPr lang="en-US" sz="2000" dirty="0"/>
              <a:t>Detecting and/or cleaning outliers</a:t>
            </a:r>
          </a:p>
          <a:p>
            <a:r>
              <a:rPr lang="en-US" sz="2000" dirty="0"/>
              <a:t>Translating results into clear narratives</a:t>
            </a:r>
          </a:p>
          <a:p>
            <a:r>
              <a:rPr lang="en-US" sz="2000" dirty="0"/>
              <a:t>Suggesting interpretations of statistical outputs</a:t>
            </a:r>
          </a:p>
          <a:p>
            <a:r>
              <a:rPr lang="en-US" sz="2000" dirty="0"/>
              <a:t>Creating and explaining figures, tables, and patterns</a:t>
            </a:r>
          </a:p>
          <a:p>
            <a:r>
              <a:rPr lang="en-US" sz="2000" dirty="0"/>
              <a:t>Linking findings to existing literature</a:t>
            </a:r>
            <a:endParaRPr lang="da-DK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8AA70-E03C-AAC4-417B-F746EA9FF0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502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E15A1-385A-5CDF-2750-E0146627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 of AI as a research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6F085-CB43-08B8-D879-27BA827C3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noProof="0" dirty="0"/>
              <a:t>AI assistance when formulating models, testing and refining model specifications</a:t>
            </a:r>
          </a:p>
          <a:p>
            <a:r>
              <a:rPr lang="en-US" sz="2000" dirty="0"/>
              <a:t>Enhancing models predictive power (e.g. model-based ML)</a:t>
            </a:r>
          </a:p>
          <a:p>
            <a:r>
              <a:rPr lang="en-US" sz="2000" noProof="0" dirty="0"/>
              <a:t>ML as a learning met</a:t>
            </a:r>
            <a:r>
              <a:rPr lang="en-US" sz="2000" dirty="0"/>
              <a:t>hod within optimization models, when solving bi-level problems, wider range of fixed-point problems (equilibrium in model systems)</a:t>
            </a:r>
            <a:endParaRPr lang="en-US" sz="2000" noProof="0" dirty="0"/>
          </a:p>
          <a:p>
            <a:r>
              <a:rPr lang="en-US" sz="2000" noProof="0" dirty="0"/>
              <a:t>LLMs for processing qualitative data like survey answers, POIs evaluations etc. </a:t>
            </a:r>
          </a:p>
          <a:p>
            <a:r>
              <a:rPr lang="en-US" sz="2000" noProof="0" dirty="0"/>
              <a:t>Possible to quantify new type of data sources</a:t>
            </a:r>
          </a:p>
          <a:p>
            <a:r>
              <a:rPr lang="en-US" sz="2000" noProof="0" dirty="0"/>
              <a:t>Image recognition and classification</a:t>
            </a:r>
          </a:p>
          <a:p>
            <a:r>
              <a:rPr lang="en-US" sz="2000" noProof="0" dirty="0"/>
              <a:t>Virtual reality and </a:t>
            </a:r>
            <a:r>
              <a:rPr lang="en-US" sz="2000" noProof="0" dirty="0" err="1"/>
              <a:t>si</a:t>
            </a:r>
            <a:r>
              <a:rPr lang="en-US" sz="2000" dirty="0" err="1"/>
              <a:t>mulators</a:t>
            </a:r>
            <a:endParaRPr lang="en-US" sz="2000" dirty="0"/>
          </a:p>
          <a:p>
            <a:endParaRPr lang="en-US" sz="2000" noProof="0" dirty="0"/>
          </a:p>
          <a:p>
            <a:r>
              <a:rPr lang="en-US" sz="2000" dirty="0"/>
              <a:t>BUT when using ML and “brute force calculations” one may forget laws from physics, statistics, economics,…</a:t>
            </a:r>
            <a:endParaRPr lang="en-US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16AA3-1150-2B1A-A865-EA82B19E14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US" noProof="0" smtClean="0"/>
              <a:pPr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2904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E7B7C-D52B-792C-890D-99F51F10F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E58DA-C58A-1BA4-4884-CA8C5E8A2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0"/>
            <a:ext cx="9312374" cy="972716"/>
          </a:xfrm>
        </p:spPr>
        <p:txBody>
          <a:bodyPr/>
          <a:lstStyle/>
          <a:p>
            <a:r>
              <a:rPr lang="en-US" dirty="0"/>
              <a:t>AI in Grant Writing (Pre-Award)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94461-0EFE-C526-B3DD-5BDABC773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268760"/>
            <a:ext cx="9312374" cy="4545578"/>
          </a:xfrm>
        </p:spPr>
        <p:txBody>
          <a:bodyPr/>
          <a:lstStyle/>
          <a:p>
            <a:r>
              <a:rPr lang="en-US" sz="2000" dirty="0"/>
              <a:t>Help structuring proposals</a:t>
            </a:r>
          </a:p>
          <a:p>
            <a:r>
              <a:rPr lang="en-US" sz="2000" dirty="0"/>
              <a:t>Draft administrative sections in proposals (impact, dissemination, project management)</a:t>
            </a:r>
          </a:p>
          <a:p>
            <a:pPr lvl="1"/>
            <a:r>
              <a:rPr lang="en-US" sz="2000" dirty="0"/>
              <a:t>Sometime AI knows specific call-requirements (like for DUT, Horizon). Seems better trained for large repetitive calls, than niche calls (like DFF green call)</a:t>
            </a:r>
          </a:p>
          <a:p>
            <a:r>
              <a:rPr lang="en-US" sz="2000" dirty="0"/>
              <a:t>Summarizing call requirements</a:t>
            </a:r>
          </a:p>
          <a:p>
            <a:r>
              <a:rPr lang="en-US" sz="2000" dirty="0"/>
              <a:t>Ensure compliance with guidelines (both the scientific call text, and other requirements)</a:t>
            </a:r>
          </a:p>
          <a:p>
            <a:pPr lvl="1"/>
            <a:r>
              <a:rPr lang="en-US" sz="2000" dirty="0"/>
              <a:t>Our applications often fail on specific ignored requirements, e.g. Marie Curie applications ignoring training and/or secondment aspects</a:t>
            </a:r>
          </a:p>
          <a:p>
            <a:r>
              <a:rPr lang="en-US" sz="2000" dirty="0"/>
              <a:t>Funding support; learn patterns from winning and rejected grants, and rejection letters</a:t>
            </a:r>
          </a:p>
          <a:p>
            <a:r>
              <a:rPr lang="en-US" sz="2000" dirty="0"/>
              <a:t>Help making presentations based on proposals, e.g. in </a:t>
            </a:r>
            <a:r>
              <a:rPr lang="en-US" sz="2000" dirty="0" err="1"/>
              <a:t>powerpoint</a:t>
            </a:r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A3D8E-95E2-37EB-6C8A-CB940BC788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8597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3C873-3C3D-B04F-C524-F764CA8FA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0"/>
            <a:ext cx="9312374" cy="972716"/>
          </a:xfrm>
        </p:spPr>
        <p:txBody>
          <a:bodyPr/>
          <a:lstStyle/>
          <a:p>
            <a:r>
              <a:rPr lang="en-US" dirty="0"/>
              <a:t>AI in Project Management (Post-Award)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42163-C27E-576C-CDBE-CCD50D636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124744"/>
            <a:ext cx="9312374" cy="4545578"/>
          </a:xfrm>
        </p:spPr>
        <p:txBody>
          <a:bodyPr/>
          <a:lstStyle/>
          <a:p>
            <a:r>
              <a:rPr lang="en-US" sz="2000" dirty="0"/>
              <a:t>Assist with reporting and progress updates</a:t>
            </a:r>
          </a:p>
          <a:p>
            <a:r>
              <a:rPr lang="en-US" sz="2000" dirty="0"/>
              <a:t>Classifies and tags research documents and data</a:t>
            </a:r>
          </a:p>
          <a:p>
            <a:r>
              <a:rPr lang="en-US" sz="2000" dirty="0"/>
              <a:t>Taking notes and summaries from meetings (e.g. </a:t>
            </a:r>
            <a:r>
              <a:rPr lang="en-US" sz="2000" dirty="0" err="1"/>
              <a:t>MeetGeek</a:t>
            </a:r>
            <a:r>
              <a:rPr lang="en-US" sz="2000" dirty="0"/>
              <a:t> type of tools, etc.)</a:t>
            </a:r>
          </a:p>
          <a:p>
            <a:pPr lvl="1"/>
            <a:r>
              <a:rPr lang="en-US" sz="2000" dirty="0"/>
              <a:t>Be aware of GDPR and ethics of this</a:t>
            </a:r>
          </a:p>
          <a:p>
            <a:r>
              <a:rPr lang="en-US" sz="2000" dirty="0"/>
              <a:t>Generate data management plan from the application (should be possible?)</a:t>
            </a:r>
          </a:p>
          <a:p>
            <a:r>
              <a:rPr lang="en-US" sz="2000" dirty="0"/>
              <a:t>Help identifying issues in grant agreement, consortia agreements</a:t>
            </a:r>
          </a:p>
          <a:p>
            <a:r>
              <a:rPr lang="en-US" sz="2000" dirty="0"/>
              <a:t>Help with arguments related to GDPR, legal, etc.</a:t>
            </a:r>
          </a:p>
          <a:p>
            <a:r>
              <a:rPr lang="en-US" sz="2000" dirty="0"/>
              <a:t>Reporting &amp; Compliance</a:t>
            </a:r>
          </a:p>
          <a:p>
            <a:pPr lvl="1"/>
            <a:r>
              <a:rPr lang="en-US" sz="2000" dirty="0"/>
              <a:t>Keep tracks deadlines and submission requirements</a:t>
            </a:r>
          </a:p>
          <a:p>
            <a:pPr lvl="1"/>
            <a:r>
              <a:rPr lang="en-US" sz="2000" dirty="0"/>
              <a:t>Periodic project reports</a:t>
            </a:r>
          </a:p>
          <a:p>
            <a:pPr lvl="1"/>
            <a:r>
              <a:rPr lang="en-US" sz="2000" dirty="0"/>
              <a:t>Summarize milestones and deliverables</a:t>
            </a:r>
          </a:p>
          <a:p>
            <a:pPr lvl="1"/>
            <a:r>
              <a:rPr lang="en-US" sz="2000" dirty="0"/>
              <a:t>Helps ensuring compliance with funding rules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BEB003-E85E-8418-3B6F-32EC0EE8D2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2345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77461-EB90-B8DF-0F28-186C32C45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04A1-61D1-870A-D560-052DA3F6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0"/>
            <a:ext cx="9312374" cy="972716"/>
          </a:xfrm>
        </p:spPr>
        <p:txBody>
          <a:bodyPr/>
          <a:lstStyle/>
          <a:p>
            <a:r>
              <a:rPr lang="da-DK" dirty="0"/>
              <a:t>Administrative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E40FD-C427-4518-4A05-BD4A20A01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726" y="1124744"/>
            <a:ext cx="9312374" cy="4545578"/>
          </a:xfrm>
        </p:spPr>
        <p:txBody>
          <a:bodyPr/>
          <a:lstStyle/>
          <a:p>
            <a:r>
              <a:rPr lang="en-US" sz="2000" dirty="0"/>
              <a:t>Helps in recruitment</a:t>
            </a:r>
          </a:p>
          <a:p>
            <a:pPr lvl="1"/>
            <a:r>
              <a:rPr lang="en-US" sz="2000" dirty="0"/>
              <a:t>Systematic call distribution</a:t>
            </a:r>
          </a:p>
          <a:p>
            <a:pPr lvl="1"/>
            <a:r>
              <a:rPr lang="en-US" sz="2000" dirty="0"/>
              <a:t>Sorting and ranking applications</a:t>
            </a:r>
          </a:p>
          <a:p>
            <a:r>
              <a:rPr lang="en-US" sz="2000" dirty="0"/>
              <a:t>Summarize long email threads</a:t>
            </a:r>
          </a:p>
          <a:p>
            <a:r>
              <a:rPr lang="en-US" sz="2000" dirty="0"/>
              <a:t>Workflow automation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DB2F4-9463-BAF5-12EE-65CDE25B64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280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49BE-9C28-326F-CDB2-5E2774825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⚖️ Limitations of AI (AI generated)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9A1AA-754E-8640-7E08-583E1E0AA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Hallucinated or incorrect references, wrong interpretation of reviews</a:t>
            </a:r>
          </a:p>
          <a:p>
            <a:r>
              <a:rPr lang="en-US" sz="2000" dirty="0"/>
              <a:t>Errors in reasoning and mathematics</a:t>
            </a:r>
          </a:p>
          <a:p>
            <a:r>
              <a:rPr lang="en-US" sz="2000" dirty="0"/>
              <a:t>Lack of scientific rigor</a:t>
            </a:r>
          </a:p>
          <a:p>
            <a:r>
              <a:rPr lang="en-US" sz="2000" dirty="0"/>
              <a:t>Bias in training data</a:t>
            </a:r>
          </a:p>
          <a:p>
            <a:r>
              <a:rPr lang="en-US" sz="2000" dirty="0"/>
              <a:t>Ethical concerns (authorship, transparency)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👉 AI requires critical human oversight</a:t>
            </a:r>
            <a:endParaRPr lang="da-DK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9A347-9F3D-E666-9E8A-4E38024122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6666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BC99D-E960-4EEF-805C-5785C69A5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🎯 Key Takeaways (AI generated)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DC325-6FC2-A871-09DB-991E47C97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AI may significantly increases research productivity</a:t>
            </a:r>
          </a:p>
          <a:p>
            <a:r>
              <a:rPr lang="en-US" sz="2000" dirty="0"/>
              <a:t>Strongest in writing, data analysis, and admin tasks</a:t>
            </a:r>
          </a:p>
          <a:p>
            <a:r>
              <a:rPr lang="en-US" sz="2000" dirty="0"/>
              <a:t>Useful for augmentation, not replacement</a:t>
            </a:r>
          </a:p>
          <a:p>
            <a:r>
              <a:rPr lang="en-US" sz="2000" dirty="0"/>
              <a:t>Critical thinking remains essential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dirty="0"/>
              <a:t>👉 AI is a co‑pilot — not the researcher</a:t>
            </a:r>
            <a:endParaRPr lang="da-DK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025C0-654F-5D47-53C6-8A243281C2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16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4749BD-216D-DA88-23C1-FB7D5DB75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398" y="764704"/>
            <a:ext cx="4230991" cy="423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1566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3B38FA3B-2246-40E5-A61A-EA1559A3CD76}" vid="{D5F764FD-A73C-4B6C-BF48-3536DEB79AD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TemplateConfiguration><![CDATA[{"elementsMetadata":[{"type":"shape","id":"2fce62a0-f28a-44e1-a519-0cbe37b25f7a","elementConfiguration":{"binding":"UserProfile.Offices.Workarea_{{DocumentLanguage}}","disableUpdates":false,"type":"text"}},{"type":"shape","id":"58465eeb-cfe0-4970-97ec-88179dc0a9c2","elementConfiguration":{"binding":"Form.Date","format":"{{DateFormats.GeneralDate}}","disableUpdates":false,"type":"date"}},{"type":"shape","id":"5020bdfb-1912-4d6d-a5c3-71b7da283692","elementConfiguration":{"binding":"Form.PresentationTitle","disableUpdates":false,"type":"text"}},{"type":"shape","id":"8d5b95d1-8a23-4044-9620-bf5e7305a170","elementConfiguration":{"binding":"UserProfile.Offices.Workarea_{{DocumentLanguage}}","disableUpdates":false,"type":"text"}},{"type":"shape","id":"79fbb3c3-dd89-47ef-91e9-e0bd2bb0942f","elementConfiguration":{"binding":"Form.Date","format":"{{DateFormats.GeneralDate}}","disableUpdates":false,"type":"date"}},{"type":"shape","id":"5e9447ba-0dff-46ec-ac33-540c046ca40a","elementConfiguration":{"binding":"Form.PresentationTitle","disableUpdates":false,"type":"text"}}],"transformationConfigurations":[{"language":"{{DocumentLanguage}}","disableUpdates":false,"type":"proofingLanguage"}],"enableDocumentContentUpdater":true,"templateName":"DTU Template 16_9 - Corporate red","templateDescription":"","version":"1.2"}]]></TemplafyTemplateConfiguration>
</file>

<file path=customXml/item3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6003040","version":"1.2"}]]></TemplafySlideTemplateConfiguration>
</file>

<file path=customXml/item4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{"name":"Date","value":"4Xm7d242HGo446IH5nRjQA=="},{"name":"PresentationTitle","value":"ZR/I84ubq+6CkRKNk7nn9w=="}]}]]></Templafy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128185","version":"1.2"}]]></TemplafySlideTemplateConfiguration>
</file>

<file path=customXml/itemProps1.xml><?xml version="1.0" encoding="utf-8"?>
<ds:datastoreItem xmlns:ds="http://schemas.openxmlformats.org/officeDocument/2006/customXml" ds:itemID="{8660AB89-308F-4A34-B01B-CC1A9333F1B1}">
  <ds:schemaRefs/>
</ds:datastoreItem>
</file>

<file path=customXml/itemProps2.xml><?xml version="1.0" encoding="utf-8"?>
<ds:datastoreItem xmlns:ds="http://schemas.openxmlformats.org/officeDocument/2006/customXml" ds:itemID="{1334258C-C3E7-4029-A615-C886A240FB15}">
  <ds:schemaRefs/>
</ds:datastoreItem>
</file>

<file path=customXml/itemProps3.xml><?xml version="1.0" encoding="utf-8"?>
<ds:datastoreItem xmlns:ds="http://schemas.openxmlformats.org/officeDocument/2006/customXml" ds:itemID="{E5957E33-0059-46CE-AE7B-582F67E40B53}">
  <ds:schemaRefs/>
</ds:datastoreItem>
</file>

<file path=customXml/itemProps4.xml><?xml version="1.0" encoding="utf-8"?>
<ds:datastoreItem xmlns:ds="http://schemas.openxmlformats.org/officeDocument/2006/customXml" ds:itemID="{05DC2B94-7C1B-4C14-83B0-9CD2A82C27E0}">
  <ds:schemaRefs/>
</ds:datastoreItem>
</file>

<file path=customXml/itemProps5.xml><?xml version="1.0" encoding="utf-8"?>
<ds:datastoreItem xmlns:ds="http://schemas.openxmlformats.org/officeDocument/2006/customXml" ds:itemID="{56C8BFB2-A911-4310-9D4A-421D773FAFA6}">
  <ds:schemaRefs/>
</ds:datastoreItem>
</file>

<file path=customXml/itemProps6.xml><?xml version="1.0" encoding="utf-8"?>
<ds:datastoreItem xmlns:ds="http://schemas.openxmlformats.org/officeDocument/2006/customXml" ds:itemID="{11FAAC39-0A3A-4CC2-A9C1-60940B78AE17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165</TotalTime>
  <Words>865</Words>
  <Application>Microsoft Office PowerPoint</Application>
  <PresentationFormat>Custom</PresentationFormat>
  <Paragraphs>137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Verdana</vt:lpstr>
      <vt:lpstr>Blank</vt:lpstr>
      <vt:lpstr>PowerPoint Presentation</vt:lpstr>
      <vt:lpstr>PowerPoint Presentation</vt:lpstr>
      <vt:lpstr>Why AI Matters Now?</vt:lpstr>
      <vt:lpstr>Where AI may help Most?</vt:lpstr>
      <vt:lpstr>AI for writing</vt:lpstr>
      <vt:lpstr>AI for literature review</vt:lpstr>
      <vt:lpstr>AI in the publication process</vt:lpstr>
      <vt:lpstr>AI in peer review processes</vt:lpstr>
      <vt:lpstr>AI for mathematical research</vt:lpstr>
      <vt:lpstr>AI for data analysis</vt:lpstr>
      <vt:lpstr>Use of AI as a research method</vt:lpstr>
      <vt:lpstr>AI in Grant Writing (Pre-Award)</vt:lpstr>
      <vt:lpstr>AI in Project Management (Post-Award)</vt:lpstr>
      <vt:lpstr>Administrative Automation</vt:lpstr>
      <vt:lpstr>⚖️ Limitations of AI (AI generated)</vt:lpstr>
      <vt:lpstr>🎯 Key Takeaways (AI generated)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Otto Anker Nielsen</dc:creator>
  <cp:lastModifiedBy>Otto Anker Nielsen</cp:lastModifiedBy>
  <cp:revision>15</cp:revision>
  <dcterms:created xsi:type="dcterms:W3CDTF">2023-10-08T20:43:56Z</dcterms:created>
  <dcterms:modified xsi:type="dcterms:W3CDTF">2026-05-27T11:12:42Z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636838302414865013</vt:lpwstr>
  </property>
  <property fmtid="{D5CDD505-2E9C-101B-9397-08002B2CF9AE}" pid="6" name="TemplafyLanguageCode">
    <vt:lpwstr>en-GB</vt:lpwstr>
  </property>
</Properties>
</file>